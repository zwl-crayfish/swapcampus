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3" r:id="rId14"/>
    <p:sldId id="266" r:id="rId15"/>
    <p:sldId id="267" r:id="rId16"/>
    <p:sldId id="268" r:id="rId17"/>
    <p:sldId id="276" r:id="rId18"/>
    <p:sldId id="269" r:id="rId19"/>
    <p:sldId id="270" r:id="rId20"/>
    <p:sldId id="275" r:id="rId21"/>
    <p:sldId id="271" r:id="rId22"/>
    <p:sldId id="272" r:id="rId23"/>
  </p:sldIdLst>
  <p:sldSz cx="12188825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58"/>
  </p:normalViewPr>
  <p:slideViewPr>
    <p:cSldViewPr snapToGrid="0">
      <p:cViewPr varScale="1">
        <p:scale>
          <a:sx n="104" d="100"/>
          <a:sy n="104" d="100"/>
        </p:scale>
        <p:origin x="3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2377440"/>
            <a:ext cx="12188952" cy="73152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2479358" y="2560320"/>
            <a:ext cx="7477125" cy="983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4000" b="1">
                <a:solidFill>
                  <a:srgbClr val="1A7A3D"/>
                </a:solidFill>
                <a:latin typeface="微软雅黑"/>
                <a:ea typeface="微软雅黑"/>
                <a:cs typeface="微软雅黑"/>
              </a:rPr>
              <a:t>软件工程课程设计答辩</a:t>
            </a:r>
            <a:endParaRPr sz="4000" b="1">
              <a:solidFill>
                <a:srgbClr val="1A7A3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</a:pPr>
            <a:r>
              <a:rPr sz="180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SwapCampus 校园闲置物品交易平台  |  </a:t>
            </a:r>
            <a:r>
              <a:rPr lang="en-US" sz="180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G</a:t>
            </a:r>
            <a:r>
              <a:rPr sz="180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lang="en-US" sz="180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18</a:t>
            </a:r>
            <a:r>
              <a:rPr sz="180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 项目组  |  2026-06-17</a:t>
            </a:r>
            <a:endParaRPr sz="180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团队介绍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831215" y="950595"/>
            <a:ext cx="10972800" cy="17735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800" dirty="0" err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组长：张文乐｜部署、Docker、Nginx、CI</a:t>
            </a:r>
            <a:r>
              <a:rPr sz="1800" dirty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/CD</a:t>
            </a:r>
            <a:endParaRPr sz="1800" dirty="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r>
              <a:rPr sz="1800" dirty="0" err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卢天翔｜前端与</a:t>
            </a:r>
            <a:r>
              <a:rPr sz="1800" dirty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 UI/</a:t>
            </a:r>
            <a:r>
              <a:rPr sz="1800" dirty="0" err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UX；陈宣妤｜需求分析、后端</a:t>
            </a:r>
            <a:r>
              <a:rPr sz="1800" dirty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dirty="0" err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API、概要与详细设计</a:t>
            </a:r>
            <a:endParaRPr sz="1800" dirty="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r>
              <a:rPr sz="1800" dirty="0" err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王洁｜数据库、Mapper</a:t>
            </a:r>
            <a:r>
              <a:rPr sz="1800" dirty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dirty="0" err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与种子数据；桂高彬｜质量保障与 CI 配置</a:t>
            </a:r>
            <a:endParaRPr sz="1800" dirty="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endParaRPr sz="1800" dirty="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r>
              <a:rPr sz="1800" dirty="0" err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感谢指导教师在任务范围、身份认证与线下交易边界方面给予修改意见</a:t>
            </a:r>
            <a:r>
              <a:rPr sz="1800" dirty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800" dirty="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2 / 17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" name="图片 5" descr="52714a7351a22df8f71fad2657aec08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8385" y="2851785"/>
            <a:ext cx="7250430" cy="35814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项目背景与目标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40080" y="1188720"/>
            <a:ext cx="10972800" cy="3959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8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为什么做</a:t>
            </a:r>
            <a:r>
              <a:rPr lang="en-US" sz="18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：</a:t>
            </a:r>
            <a:endParaRPr sz="18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r>
              <a:rPr sz="18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校园闲置信息分散，商品状态、交易进度与信用记录难追踪</a:t>
            </a:r>
            <a:endParaRPr sz="18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r>
              <a:rPr lang="zh-CN" altLang="en-US" dirty="0"/>
              <a:t>现状痛点</a:t>
            </a:r>
            <a:r>
              <a:rPr lang="en-US" altLang="zh-CN" dirty="0"/>
              <a:t>：</a:t>
            </a:r>
            <a:r>
              <a:rPr lang="zh-CN" altLang="en-US" dirty="0"/>
              <a:t>校内微信群日均闲置交易消息 200+ 条，但信息碎片化、价格不透明、无信用追溯机制</a:t>
            </a:r>
            <a:endParaRPr lang="zh-CN" altLang="en-US" dirty="0"/>
          </a:p>
          <a:p/>
          <a:p>
            <a:pPr algn="l">
              <a:spcAft>
                <a:spcPts val="800"/>
              </a:spcAft>
              <a:buNone/>
            </a:pPr>
            <a:endParaRPr sz="18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r>
              <a:rPr sz="18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为谁做</a:t>
            </a:r>
            <a:r>
              <a:rPr lang="en-US" sz="18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：</a:t>
            </a:r>
            <a:endParaRPr lang="en-US" sz="18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r>
              <a:rPr sz="18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校内买家、卖家与平台管理员</a:t>
            </a:r>
            <a:endParaRPr sz="18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endParaRPr sz="18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r>
              <a:rPr sz="18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做到什么程度</a:t>
            </a:r>
            <a:r>
              <a:rPr lang="en-US" sz="18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：</a:t>
            </a:r>
            <a:endParaRPr lang="en-US" sz="18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 algn="l">
              <a:spcAft>
                <a:spcPts val="800"/>
              </a:spcAft>
              <a:buFont typeface="Arial" panose="020B0604020202090204" pitchFamily="34" charset="0"/>
              <a:buChar char="•"/>
            </a:pPr>
            <a:r>
              <a:rPr sz="18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实现发布、检索、沟通、线下下单、双方确认、评价举报与后台治理；</a:t>
            </a:r>
            <a:endParaRPr sz="18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 algn="l">
              <a:spcAft>
                <a:spcPts val="800"/>
              </a:spcAft>
              <a:buFont typeface="Arial" panose="020B0604020202090204" pitchFamily="34" charset="0"/>
              <a:buChar char="•"/>
            </a:pPr>
            <a:r>
              <a:rPr sz="18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不涉及在线支付和资金托管</a:t>
            </a:r>
            <a:endParaRPr sz="18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3 / 17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需求亮点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40080" y="1188720"/>
            <a:ext cx="10972800" cy="1783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800" dirty="0" err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核心场景</a:t>
            </a:r>
            <a:r>
              <a:rPr sz="1800" dirty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 1｜卖家发布多图商品，编辑、上架与下架</a:t>
            </a:r>
            <a:endParaRPr sz="1800" dirty="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r>
              <a:rPr sz="1800" dirty="0" err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核心场景</a:t>
            </a:r>
            <a:r>
              <a:rPr sz="1800" dirty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 2｜买家筛选搜索、收藏聊天、创建线下订单</a:t>
            </a:r>
            <a:endParaRPr sz="1800" dirty="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r>
              <a:rPr sz="1800" dirty="0" err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核心场景</a:t>
            </a:r>
            <a:r>
              <a:rPr sz="1800" dirty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 3｜买卖双方确认完成，形成评价、信用与举报记录</a:t>
            </a:r>
            <a:endParaRPr sz="1800" dirty="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r>
              <a:rPr sz="1800" dirty="0" err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关键规则｜学号唯一；订单首次双确认后完成；举报、处罚与商品状态保持一致；商品搜索白名单排序；JWT 无状态认证 + Token 黑名单注销</a:t>
            </a:r>
            <a:endParaRPr sz="1800" dirty="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4 / 17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5540" y="3055620"/>
            <a:ext cx="7295515" cy="35318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系统总体架构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5 / 17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99053"/>
            <a:ext cx="11734800" cy="52256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数据库设计概览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6 / 17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410" y="1157605"/>
            <a:ext cx="10866120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关键模块实现（一）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7 / 17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20948"/>
            <a:ext cx="11734800" cy="52256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关键模块实现（二）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8 / 17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20948"/>
            <a:ext cx="11734800" cy="52256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关键算法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40080" y="1044575"/>
            <a:ext cx="10972800" cy="20504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8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算法选择｜商品查询采用数据库分页、条件过滤与排序白名单；订单确认采用有限状态流转与状态锁定</a:t>
            </a:r>
            <a:endParaRPr sz="18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endParaRPr sz="18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r>
              <a:rPr sz="18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复杂度｜数据库排序通常为 O(n log n)，分页只返回当前页；状态判断为 O(1)</a:t>
            </a:r>
            <a:endParaRPr sz="18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endParaRPr sz="18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r>
              <a:rPr sz="18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替代方案对比｜相比前端加载全部数据再筛选，数据库查询减少网络传输和浏览器内存；相比自由拼接排序字段，Mapper 动态 SQL 限定可降低注入风险</a:t>
            </a:r>
            <a:endParaRPr sz="18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9 / 17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2095" y="3210560"/>
            <a:ext cx="66040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系统演示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135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10 / 17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20948"/>
            <a:ext cx="11734800" cy="522565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55" y="1025525"/>
            <a:ext cx="4785995" cy="33750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395" y="1259205"/>
            <a:ext cx="3783330" cy="31407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系统演示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11 / 17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6月14日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84375" y="937230"/>
            <a:ext cx="10019743" cy="5401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29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测试与质量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40080" y="1188720"/>
            <a:ext cx="4267835" cy="2926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8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▎6 层分层测试策略</a:t>
            </a:r>
            <a:endParaRPr sz="18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r>
              <a:rPr sz="18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单元 → 功能 → 接口 → UI交互 → 集成 → 兼容性</a:t>
            </a:r>
            <a:endParaRPr sz="18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r>
              <a:rPr sz="18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▎60+ 用例覆盖 5 大模块</a:t>
            </a:r>
            <a:endParaRPr sz="18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r>
              <a:rPr sz="18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认证(15) · 商品(13) · 订单(7) · 聊天(8) · 管理(9)</a:t>
            </a:r>
            <a:endParaRPr sz="18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E85A4F"/>
                </a:solidFill>
                <a:latin typeface="微软雅黑"/>
              </a:rPr>
              <a:t>▎25+ API 接口测试</a:t>
            </a:r>
            <a:endParaRPr sz="1600" b="1">
              <a:solidFill>
                <a:srgbClr val="E85A4F"/>
              </a:solidFill>
              <a:latin typeface="微软雅黑"/>
            </a:endParaRP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56677"/>
                </a:solidFill>
                <a:latin typeface="微软雅黑"/>
              </a:rPr>
              <a:t>auth/goods/order/chat/admin 全模块覆盖</a:t>
            </a:r>
            <a:endParaRPr sz="1100" b="0">
              <a:solidFill>
                <a:srgbClr val="556677"/>
              </a:solidFill>
              <a:latin typeface="微软雅黑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E85A4F"/>
                </a:solidFill>
                <a:latin typeface="微软雅黑"/>
              </a:rPr>
              <a:t>▎10 个 Bug · 全部闭环</a:t>
            </a:r>
            <a:endParaRPr sz="1600" b="1">
              <a:solidFill>
                <a:srgbClr val="E85A4F"/>
              </a:solidFill>
              <a:latin typeface="微软雅黑"/>
            </a:endParaRP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56677"/>
                </a:solidFill>
                <a:latin typeface="微软雅黑"/>
              </a:rPr>
              <a:t>2 Critical · 4 High · 3 Medium · 1 Low → 全部 FIXED</a:t>
            </a:r>
            <a:endParaRPr sz="1100" b="0">
              <a:solidFill>
                <a:srgbClr val="556677"/>
              </a:solidFill>
              <a:latin typeface="微软雅黑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E85A4F"/>
                </a:solidFill>
                <a:latin typeface="微软雅黑"/>
              </a:rPr>
              <a:t>▎7 种测试工具</a:t>
            </a:r>
            <a:endParaRPr sz="1600" b="1">
              <a:solidFill>
                <a:srgbClr val="E85A4F"/>
              </a:solidFill>
              <a:latin typeface="微软雅黑"/>
            </a:endParaRP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56677"/>
                </a:solidFill>
                <a:latin typeface="微软雅黑"/>
              </a:rPr>
              <a:t>Chrome DevTools · Vue DevTools · H2 Console · Postman · Lighthouse · 多标签页并行 · 截图对比</a:t>
            </a:r>
            <a:endParaRPr sz="1050" b="0">
              <a:solidFill>
                <a:srgbClr val="556677"/>
              </a:solidFill>
              <a:latin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12 / 17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250" y="1275715"/>
            <a:ext cx="6646545" cy="430720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部署与可观测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13 / 17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20948"/>
            <a:ext cx="11734800" cy="522565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项目管理与协作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14 / 17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 descr="33581b429018fdacedba004a0c7586c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5025" y="894080"/>
            <a:ext cx="8670925" cy="57340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24485" y="1122680"/>
            <a:ext cx="40627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关键路径</a:t>
            </a:r>
            <a:endParaRPr lang="zh-CN" altLang="en-US"/>
          </a:p>
          <a:p>
            <a:r>
              <a:rPr lang="en-US" altLang="zh-CN"/>
              <a:t>&amp;</a:t>
            </a:r>
            <a:endParaRPr lang="en-US" altLang="zh-CN"/>
          </a:p>
          <a:p>
            <a:r>
              <a:rPr lang="zh-CN" altLang="en-US"/>
              <a:t>里程碑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项目管理与协作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14 / 17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410" y="927735"/>
            <a:ext cx="11090910" cy="4089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017229"/>
            <a:ext cx="1124712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85A4F"/>
                </a:solidFill>
                <a:latin typeface="微软雅黑"/>
              </a:rPr>
              <a:t>▎Git 协作流程</a:t>
            </a:r>
            <a:endParaRPr sz="1600" b="1">
              <a:solidFill>
                <a:srgbClr val="E85A4F"/>
              </a:solidFill>
              <a:latin typeface="微软雅黑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微软雅黑"/>
              </a:rPr>
              <a:t>Feature 分支 → 本地验证 → 发起 Pull Request → GitHub Actions CI 门禁（编译+测试+构建）→ Code Review → 合并到 main</a:t>
            </a:r>
            <a:endParaRPr sz="1400" b="0">
              <a:solidFill>
                <a:srgbClr val="2C3E50"/>
              </a:solidFill>
              <a:latin typeface="微软雅黑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微软雅黑"/>
              </a:rPr>
              <a:t>每日从 main 拉取最新代码，减少合并冲突；接口设计冻结后前后端并行开发</a:t>
            </a:r>
            <a:endParaRPr sz="1400" b="0">
              <a:solidFill>
                <a:srgbClr val="2C3E50"/>
              </a:solidFill>
              <a:latin typeface="微软雅黑"/>
            </a:endParaR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E85A4F"/>
                </a:solidFill>
                <a:latin typeface="微软雅黑"/>
              </a:rPr>
              <a:t>▎协作数据</a:t>
            </a:r>
            <a:endParaRPr sz="1600" b="1">
              <a:solidFill>
                <a:srgbClr val="E85A4F"/>
              </a:solidFill>
              <a:latin typeface="微软雅黑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微软雅黑"/>
              </a:rPr>
              <a:t>49 commits · </a:t>
            </a:r>
            <a:r>
              <a:rPr lang="en-US" sz="1400" b="0">
                <a:solidFill>
                  <a:srgbClr val="2C3E50"/>
                </a:solidFill>
                <a:latin typeface="微软雅黑"/>
              </a:rPr>
              <a:t>1</a:t>
            </a:r>
            <a:r>
              <a:rPr sz="1400" b="0">
                <a:solidFill>
                  <a:srgbClr val="2C3E50"/>
                </a:solidFill>
                <a:latin typeface="微软雅黑"/>
              </a:rPr>
              <a:t>9 个合并 PR · </a:t>
            </a:r>
            <a:r>
              <a:rPr lang="en-US" sz="1400" b="0">
                <a:solidFill>
                  <a:srgbClr val="2C3E50"/>
                </a:solidFill>
                <a:latin typeface="微软雅黑"/>
              </a:rPr>
              <a:t>5</a:t>
            </a:r>
            <a:r>
              <a:rPr sz="1400" b="0">
                <a:solidFill>
                  <a:srgbClr val="2C3E50"/>
                </a:solidFill>
                <a:latin typeface="微软雅黑"/>
              </a:rPr>
              <a:t>位贡献者 · 10 个分支 · CI 流水线通过率 </a:t>
            </a:r>
            <a:r>
              <a:rPr lang="en-US" sz="1400" b="0">
                <a:solidFill>
                  <a:srgbClr val="2C3E50"/>
                </a:solidFill>
                <a:latin typeface="微软雅黑"/>
              </a:rPr>
              <a:t>9</a:t>
            </a:r>
            <a:r>
              <a:rPr sz="1400" b="0">
                <a:solidFill>
                  <a:srgbClr val="2C3E50"/>
                </a:solidFill>
                <a:latin typeface="微软雅黑"/>
              </a:rPr>
              <a:t>0%（最新 10 次运行）</a:t>
            </a:r>
            <a:endParaRPr sz="1400" b="0">
              <a:solidFill>
                <a:srgbClr val="2C3E50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工具使用申报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15 / 17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20948"/>
            <a:ext cx="11734800" cy="522565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遇到的最大挑战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16 / 17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20750"/>
            <a:ext cx="11734800" cy="50996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遇到的最大挑战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16 / 17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1170" y="1166495"/>
            <a:ext cx="11247120" cy="29387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sz="2400"/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E85A4F"/>
                </a:solidFill>
                <a:latin typeface="微软雅黑"/>
              </a:rPr>
              <a:t>▎分支合并引发全链路回退</a:t>
            </a:r>
            <a:endParaRPr sz="1600" b="1">
              <a:solidFill>
                <a:srgbClr val="E85A4F"/>
              </a:solidFill>
              <a:latin typeface="微软雅黑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56677"/>
                </a:solidFill>
                <a:latin typeface="微软雅黑"/>
              </a:rPr>
              <a:t>application.yml → H2 覆盖 MySQL、Dockerfile 退化、CI 丢失 Docker Job、mvnw 权限丢失、Actuator 误删，注册/部署/CI 三线同时崩溃</a:t>
            </a:r>
            <a:endParaRPr sz="1400" b="0">
              <a:solidFill>
                <a:srgbClr val="556677"/>
              </a:solidFill>
              <a:latin typeface="微软雅黑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56677"/>
                </a:solidFill>
                <a:latin typeface="微软雅黑"/>
              </a:rPr>
              <a:t>解法：逐文件 diff 对比修复，保留 master 种子数据，形成 H2 本地开发 + MySQL 生产部署的双 profile 架构</a:t>
            </a:r>
            <a:endParaRPr sz="1400" b="0">
              <a:solidFill>
                <a:srgbClr val="556677"/>
              </a:solidFill>
              <a:latin typeface="微软雅黑"/>
            </a:endParaRPr>
          </a:p>
          <a:p>
            <a:pPr>
              <a:spcAft>
                <a:spcPts val="200"/>
              </a:spcAft>
            </a:pPr>
            <a:endParaRPr sz="2400"/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E85A4F"/>
                </a:solidFill>
                <a:latin typeface="微软雅黑"/>
              </a:rPr>
              <a:t>▎CI 流水线连续失败与逐层排查</a:t>
            </a:r>
            <a:endParaRPr sz="1600" b="1">
              <a:solidFill>
                <a:srgbClr val="E85A4F"/>
              </a:solidFill>
              <a:latin typeface="微软雅黑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56677"/>
                </a:solidFill>
                <a:latin typeface="微软雅黑"/>
              </a:rPr>
              <a:t>10+ 次失败，每次修复只暴露下一层：mvnw Permission denied → Maven 参数缺失 → Table "users" not found → /actuator/health 403</a:t>
            </a:r>
            <a:endParaRPr sz="1400" b="0">
              <a:solidFill>
                <a:srgbClr val="556677"/>
              </a:solidFill>
              <a:latin typeface="微软雅黑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56677"/>
                </a:solidFill>
                <a:latin typeface="微软雅黑"/>
              </a:rPr>
              <a:t>解法：逐 Job 日志定位文件模式、Wrapper 参数、@TableName 与硬编码 SQL 一致性、SecurityConfig 白名单四个根因，小 PR 逐个修复</a:t>
            </a:r>
            <a:endParaRPr sz="1400" b="0">
              <a:solidFill>
                <a:srgbClr val="556677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总结与展望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17 / 17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20948"/>
            <a:ext cx="11734800" cy="522565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Q&amp;A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40080" y="1188720"/>
            <a:ext cx="1097280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32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感谢各位评委老师！</a:t>
            </a:r>
            <a:endParaRPr sz="32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  <a:buNone/>
            </a:pPr>
            <a:r>
              <a:rPr sz="320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欢迎提问。</a:t>
            </a:r>
            <a:endParaRPr sz="3200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18 / 18</a:t>
            </a:r>
            <a:endParaRPr sz="1000">
              <a:solidFill>
                <a:srgbClr val="999999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1790</Words>
  <Application>WPS 演示</Application>
  <PresentationFormat>自定义</PresentationFormat>
  <Paragraphs>143</Paragraphs>
  <Slides>20</Slides>
  <Notes>18</Notes>
  <HiddenSlides>0</HiddenSlides>
  <MMClips>1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微软雅黑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张文乐</cp:lastModifiedBy>
  <cp:revision>9</cp:revision>
  <dcterms:created xsi:type="dcterms:W3CDTF">2026-06-15T07:35:45Z</dcterms:created>
  <dcterms:modified xsi:type="dcterms:W3CDTF">2026-06-15T07:35:45Z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9A187BA0368AF7CB34722F6A56970773_42</vt:lpwstr>
  </property>
  <property fmtid="{D5CDD505-2E9C-101B-9397-08002B2CF9AE}" pid="3" name="KSOProductBuildVer">
    <vt:lpwstr>2052-12.1.25895.25895</vt:lpwstr>
  </property>
</Properties>
</file>